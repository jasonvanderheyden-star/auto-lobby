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468880"/>
            <a:ext cx="5486400" cy="5486400"/>
          </a:xfrm>
          <a:prstGeom prst="ellipse">
            <a:avLst/>
          </a:prstGeom>
          <a:solidFill>
            <a:srgbClr val="5B6CF0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93268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operating system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government &amp; regulatory affairs.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automate every point of contact between a business and its government. Lobbying compliance comes first.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6172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6AD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Government is a manual tax on every business.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serious interaction with government creates an obligation. Today each one is handled by hand, in spreadsheets and email, on a deadline, with legal risk attached.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83280" cy="292608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3383280" cy="82296"/>
          </a:xfrm>
          <a:prstGeom prst="rect">
            <a:avLst/>
          </a:prstGeom>
          <a:solidFill>
            <a:srgbClr val="5B6CF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Lobbying filings, registrations, and renewals. Monthly, manual, and personally certified by a senior officer.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3383280" cy="292608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743200"/>
            <a:ext cx="3383280" cy="82296"/>
          </a:xfrm>
          <a:prstGeom prst="rect">
            <a:avLst/>
          </a:prstGeom>
          <a:solidFill>
            <a:srgbClr val="5B6C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 what government is doing across gazettes, committees, and consultations, or get blindsided.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55280" y="2743200"/>
            <a:ext cx="3383280" cy="292608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2743200"/>
            <a:ext cx="3383280" cy="82296"/>
          </a:xfrm>
          <a:prstGeom prst="rect">
            <a:avLst/>
          </a:prstGeom>
          <a:solidFill>
            <a:srgbClr val="5B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 and build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296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 grants across 600+ programs and navigate multi-agency permitting, mostly by word of mouth.</a:t>
            </a:r>
            <a:endParaRPr lang="en-US" sz="13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start where the pain is sharpest and the deadline is monthly.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Federal lobbying compliance: every registered organization must log meetings with officials and file a report every month, accurately, on time, and personally certified. Miss it and the officer is on the hook.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922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Monthly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869680" y="2395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filing deadline, every month, forever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6758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liability sits with a senior officer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869680" y="49560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reconstructed from memory &amp; calendars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FIRST OFFERING · AUTO LOBBY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runs on its own. You approve once a month.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agent watches your team's calendars, finds meetings that may be reportable, writes the report with every field sourced, and waits for one click.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meetings with officials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87168" y="3611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52928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81528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Classify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81528" y="4069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reportable or not, with reasons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0016" y="3611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65776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94376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94376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Draft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94376" y="4069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monthly report, pre-filled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12864" y="3611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78624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5B6CF0"/>
          </a:solidFill>
          <a:ln w="12700">
            <a:solidFill>
              <a:srgbClr val="5B6C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07224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07224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07224" y="4069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0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click from the officer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25712" y="3611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491472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20072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720072" y="4069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the lobbying registry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friction: </a:t>
            </a:r>
            <a:pPr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≤ 5 minutes of the officer's time per month.</a:t>
            </a:r>
            <a:endParaRPr lang="en-US" sz="16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screen, once a month.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meeting found, written up, with the reasoning shown on each field. The officer reviews the batch and approves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and working today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Calendar ingestion · official resolution · classifier · drafting · certification · supervised filing.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5486400" cy="4480560"/>
          </a:xfrm>
          <a:prstGeom prst="rect">
            <a:avLst/>
          </a:prstGeom>
          <a:solidFill>
            <a:srgbClr val="21243A"/>
          </a:solidFill>
          <a:ln w="12700">
            <a:solidFill>
              <a:srgbClr val="343A5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6916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673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 Lobby </a:t>
            </a:r>
            <a:pPr indent="0" marL="0">
              <a:buNone/>
            </a:pPr>
            <a:r>
              <a:rPr lang="en-US" sz="13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powered by whiphand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555480" y="16733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A2E44"/>
          </a:solidFill>
          <a:ln w="12700">
            <a:solidFill>
              <a:srgbClr val="343A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16733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to review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meetings ready to report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8076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scanned 1,469 events and wrote up every meeting you may need to report.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Natural Resources Canada · clean-energy tax credits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32720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Jun 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3950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Environment and Climate Change Canada · carbon removal rules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32720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Jun 11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45171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Finance Canada · carbon capture funding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332720" y="45171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Jun 18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51663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5B6CF0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5166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 all (3)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changed at the same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EEF0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is finally reliable enough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4231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Language models can read a calendar, judge what's reportable, and draft a defensible report with sources. A year ago that needed a person.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EEF0F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291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Government data is open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3749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Registries, official directories, and historical filings are now machine-accessible. That is the raw material for a government data graph.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EE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Scrutiny is rising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50749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Lobbying and transparency enforcement is tightening across jurisdictions, and manual compliance is getting harder to sustain.</a:t>
            </a:r>
            <a:endParaRPr lang="en-US" sz="13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6AD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 Lobby is the first of four offerings.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calendar pipeline, one government data graph, one certification flow. One account, with offerings that switch on as we ship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5B6CF0"/>
          </a:solidFill>
          <a:ln w="12700">
            <a:solidFill>
              <a:srgbClr val="5B6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 Lobby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EF0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A2E44"/>
          </a:solidFill>
          <a:ln w="12700">
            <a:solidFill>
              <a:srgbClr val="34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A2E44"/>
          </a:solidFill>
          <a:ln w="12700">
            <a:solidFill>
              <a:srgbClr val="34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A2E44"/>
          </a:solidFill>
          <a:ln w="12700">
            <a:solidFill>
              <a:srgbClr val="34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Permits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9828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2E44"/>
          </a:solidFill>
          <a:ln w="12700">
            <a:solidFill>
              <a:srgbClr val="34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69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  </a:t>
            </a:r>
            <a:pPr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platform: the government data graph, document engine, calendar intelligence, certification, and audit trail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Auto Lobby, then reused by every offering after it. That is the advantage that compounds.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narrow, then grow into a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301752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~5,000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registered federal lobbyists in Canada, the entry point for Auto Lobby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3383280" cy="301752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org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0" y="36118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a government-affairs function, the market for Intelligence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103120"/>
            <a:ext cx="3383280" cy="301752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0" y="36118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federal grant programs, $30B+ disbursed a year, the Grants market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Canada-first by design: bilingual and data-resident, with the same playbook portable to other jurisdictions.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SaaS at the core, with two multipliers.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82296" cy="1097280"/>
          </a:xfrm>
          <a:prstGeom prst="rect">
            <a:avLst/>
          </a:prstGeom>
          <a:solidFill>
            <a:srgbClr val="5B6C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 SaaS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Per-tenant subscription for in-house government-affairs teams. Start with Auto Lobby, then expand across offerings.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82296" cy="1097280"/>
          </a:xfrm>
          <a:prstGeom prst="rect">
            <a:avLst/>
          </a:prstGeom>
          <a:solidFill>
            <a:srgbClr val="5B6CF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Agency multiplier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Firms manage many clients under one white-labelled account. One logo, many ARR, worth 10 to 20 times a single seat.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82296" cy="1097280"/>
          </a:xfrm>
          <a:prstGeom prst="rect">
            <a:avLst/>
          </a:prstGeom>
          <a:solidFill>
            <a:srgbClr val="5B6CF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 fees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the Grants offering, an optional fee on funded applications ties price to the value delivered.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 TO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motions, one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10896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In-house government-affairs teams at corporates.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 with Compliance · expand to Intelligence, Grants, Permits as wallet share grows.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257800" cy="3108960"/>
          </a:xfrm>
          <a:prstGeom prst="rect">
            <a:avLst/>
          </a:prstGeom>
          <a:solidFill>
            <a:srgbClr val="21243A"/>
          </a:solidFill>
          <a:ln w="12700">
            <a:solidFill>
              <a:srgbClr val="2124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379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 firms and regulatory law firms managing client portfolios.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977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White-label infrastructure built in from day one · one account = multiple client ARR.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Pilots underway with GR and law firms.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US /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 to copy, and harder over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Government data graph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graph of institutions, officials, and historical filings that every offering reuses and improves.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215k+ historical filings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2468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Proprietary intelligence on who lobbies whom, and on what. Competitors can't backfill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Provenance and certification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auto-decision is explainable and every filing is human-certified. That is the trust layer regulators require.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72200" y="3703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Connected, not generic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200" y="41605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Alerts connect to your own compliance record and your own officials, not a generic clipping feed.</a:t>
            </a:r>
            <a:endParaRPr lang="en-US" sz="13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It's built and working today.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10,130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calendar events run through the live classifier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011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297680" y="2880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calendar platforms connected, Google and Microsoft 365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011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B6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 to end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955280" y="2880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detection to filing, already shipped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08792" cy="100584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Now: </a:t>
            </a:r>
            <a:pPr indent="0" marL="0">
              <a:buNone/>
            </a:pPr>
            <a:r>
              <a:rPr lang="en-US" sz="15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closing first paying pilots and onboarding a second tenant. </a:t>
            </a:r>
            <a:pPr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Next: </a:t>
            </a:r>
            <a:pPr indent="0" marL="0">
              <a:buNone/>
            </a:pPr>
            <a:r>
              <a:rPr lang="en-US" sz="15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Intelligence module on the same foundation.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C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by an operator inside the problem.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188720" cy="1188720"/>
          </a:xfrm>
          <a:prstGeom prst="ellipse">
            <a:avLst/>
          </a:prstGeom>
          <a:solidFill>
            <a:srgbClr val="EEF0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JV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Jason van der Heyden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7889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Founder. Building Whiphand from direct experience with Canadian government affairs and the compliance burden it creates.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908792" cy="1097280"/>
          </a:xfrm>
          <a:prstGeom prst="rect">
            <a:avLst/>
          </a:prstGeom>
          <a:solidFill>
            <a:srgbClr val="F5F6FB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B4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Placeholder ]  </a:t>
            </a:r>
            <a:pPr indent="0" marL="0">
              <a:buNone/>
            </a:pPr>
            <a:r>
              <a:rPr lang="en-US" sz="1400" i="1" dirty="0">
                <a:solidFill>
                  <a:srgbClr val="6E73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co-founders, key hires, and advisors here. Experts in lobbying law, government relations, and machine learning matter most to investors.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6236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E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76895" y="6236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Investor brief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943600" cy="5943600"/>
          </a:xfrm>
          <a:prstGeom prst="ellipse">
            <a:avLst/>
          </a:prstGeom>
          <a:solidFill>
            <a:srgbClr val="5B6CF0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96926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whiphand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whip hand over government.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A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The ask ]  </a:t>
            </a:r>
            <a:pPr indent="0" marL="0">
              <a:buNone/>
            </a:pPr>
            <a:r>
              <a:rPr lang="en-US" sz="1700" dirty="0">
                <a:solidFill>
                  <a:srgbClr val="F4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$____ to close paying pilots, ship the Intelligence module, and build the founding team.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jason.vanderheyden@gmail.com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Whiphand Investor Brief</dc:title>
  <dc:subject>PptxGenJS Presentation</dc:subject>
  <dc:creator>Whiphand</dc:creator>
  <cp:lastModifiedBy>Whiphand</cp:lastModifiedBy>
  <cp:revision>1</cp:revision>
  <dcterms:created xsi:type="dcterms:W3CDTF">2026-06-18T17:25:16Z</dcterms:created>
  <dcterms:modified xsi:type="dcterms:W3CDTF">2026-06-18T17:25:16Z</dcterms:modified>
</cp:coreProperties>
</file>