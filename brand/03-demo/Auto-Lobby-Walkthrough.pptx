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468880"/>
            <a:ext cx="5486400" cy="5486400"/>
          </a:xfrm>
          <a:prstGeom prst="ellipse">
            <a:avLst/>
          </a:prstGeom>
          <a:solidFill>
            <a:srgbClr val="5B6CF0">
              <a:alpha val="2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Auto Lobby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50392" y="3291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0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POWERED BY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whiphand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40233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0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From sign-up to your monthly government-meetings report, written up and ready to file in one click.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A6ADF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 walkthrough · sample company, Northwind Climate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1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457200"/>
            <a:ext cx="9994392" cy="5166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8F2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97280" y="457200"/>
            <a:ext cx="9994392" cy="457200"/>
          </a:xfrm>
          <a:prstGeom prst="rect">
            <a:avLst/>
          </a:prstGeom>
          <a:solidFill>
            <a:srgbClr val="F5F6F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0" y="914400"/>
            <a:ext cx="9994392" cy="0"/>
          </a:xfrm>
          <a:prstGeom prst="line">
            <a:avLst/>
          </a:prstGeom>
          <a:noFill/>
          <a:ln w="12700">
            <a:solidFill>
              <a:srgbClr val="E6E8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25880" y="640080"/>
            <a:ext cx="100584" cy="100584"/>
          </a:xfrm>
          <a:prstGeom prst="ellipse">
            <a:avLst/>
          </a:prstGeom>
          <a:solidFill>
            <a:srgbClr val="D7DAE6"/>
          </a:solidFill>
          <a:ln/>
        </p:spPr>
      </p:sp>
      <p:sp>
        <p:nvSpPr>
          <p:cNvPr id="6" name="Shape 4"/>
          <p:cNvSpPr/>
          <p:nvPr/>
        </p:nvSpPr>
        <p:spPr>
          <a:xfrm>
            <a:off x="1527048" y="640080"/>
            <a:ext cx="100584" cy="100584"/>
          </a:xfrm>
          <a:prstGeom prst="ellipse">
            <a:avLst/>
          </a:prstGeom>
          <a:solidFill>
            <a:srgbClr val="D7DAE6"/>
          </a:solidFill>
          <a:ln/>
        </p:spPr>
      </p:sp>
      <p:sp>
        <p:nvSpPr>
          <p:cNvPr id="7" name="Shape 5"/>
          <p:cNvSpPr/>
          <p:nvPr/>
        </p:nvSpPr>
        <p:spPr>
          <a:xfrm>
            <a:off x="1728216" y="640080"/>
            <a:ext cx="100584" cy="100584"/>
          </a:xfrm>
          <a:prstGeom prst="ellipse">
            <a:avLst/>
          </a:prstGeom>
          <a:solidFill>
            <a:srgbClr val="D7DAE6"/>
          </a:solidFill>
          <a:ln/>
        </p:spPr>
      </p:sp>
      <p:sp>
        <p:nvSpPr>
          <p:cNvPr id="8" name="Shape 6"/>
          <p:cNvSpPr/>
          <p:nvPr/>
        </p:nvSpPr>
        <p:spPr>
          <a:xfrm>
            <a:off x="4265676" y="576072"/>
            <a:ext cx="3657600" cy="237744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E6E8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65676" y="57607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0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app.whiphand.com/sign-up</a:t>
            </a:r>
            <a:endParaRPr lang="en-US" sz="9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3308" y="1417320"/>
            <a:ext cx="402336" cy="4023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097280" y="1920240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A2E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Auto Lobby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097280" y="2286000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9AA0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POWERED BY WHIPHAND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97280" y="2697480"/>
            <a:ext cx="9994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2E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Create your account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4631436" y="3337560"/>
            <a:ext cx="29260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6E8F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22876" y="33375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name@company.ca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631436" y="3931920"/>
            <a:ext cx="2926080" cy="457200"/>
          </a:xfrm>
          <a:prstGeom prst="roundRect">
            <a:avLst>
              <a:gd name="adj" fmla="val 16000"/>
            </a:avLst>
          </a:prstGeom>
          <a:solidFill>
            <a:srgbClr val="5B6CF0"/>
          </a:solidFill>
          <a:ln/>
        </p:spPr>
      </p:sp>
      <p:sp>
        <p:nvSpPr>
          <p:cNvPr id="17" name="Text 14"/>
          <p:cNvSpPr/>
          <p:nvPr/>
        </p:nvSpPr>
        <p:spPr>
          <a:xfrm>
            <a:off x="4631436" y="3931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Continue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097280" y="5833872"/>
            <a:ext cx="99943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CCD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Signing up creates your organization. Your private workspace is set up automatically.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1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457200"/>
            <a:ext cx="9994392" cy="5166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8F2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97280" y="457200"/>
            <a:ext cx="9994392" cy="457200"/>
          </a:xfrm>
          <a:prstGeom prst="rect">
            <a:avLst/>
          </a:prstGeom>
          <a:solidFill>
            <a:srgbClr val="F5F6F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0" y="914400"/>
            <a:ext cx="9994392" cy="0"/>
          </a:xfrm>
          <a:prstGeom prst="line">
            <a:avLst/>
          </a:prstGeom>
          <a:noFill/>
          <a:ln w="12700">
            <a:solidFill>
              <a:srgbClr val="E6E8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25880" y="640080"/>
            <a:ext cx="100584" cy="100584"/>
          </a:xfrm>
          <a:prstGeom prst="ellipse">
            <a:avLst/>
          </a:prstGeom>
          <a:solidFill>
            <a:srgbClr val="D7DAE6"/>
          </a:solidFill>
          <a:ln/>
        </p:spPr>
      </p:sp>
      <p:sp>
        <p:nvSpPr>
          <p:cNvPr id="6" name="Shape 4"/>
          <p:cNvSpPr/>
          <p:nvPr/>
        </p:nvSpPr>
        <p:spPr>
          <a:xfrm>
            <a:off x="1527048" y="640080"/>
            <a:ext cx="100584" cy="100584"/>
          </a:xfrm>
          <a:prstGeom prst="ellipse">
            <a:avLst/>
          </a:prstGeom>
          <a:solidFill>
            <a:srgbClr val="D7DAE6"/>
          </a:solidFill>
          <a:ln/>
        </p:spPr>
      </p:sp>
      <p:sp>
        <p:nvSpPr>
          <p:cNvPr id="7" name="Shape 5"/>
          <p:cNvSpPr/>
          <p:nvPr/>
        </p:nvSpPr>
        <p:spPr>
          <a:xfrm>
            <a:off x="1728216" y="640080"/>
            <a:ext cx="100584" cy="100584"/>
          </a:xfrm>
          <a:prstGeom prst="ellipse">
            <a:avLst/>
          </a:prstGeom>
          <a:solidFill>
            <a:srgbClr val="D7DAE6"/>
          </a:solidFill>
          <a:ln/>
        </p:spPr>
      </p:sp>
      <p:sp>
        <p:nvSpPr>
          <p:cNvPr id="8" name="Shape 6"/>
          <p:cNvSpPr/>
          <p:nvPr/>
        </p:nvSpPr>
        <p:spPr>
          <a:xfrm>
            <a:off x="4265676" y="576072"/>
            <a:ext cx="3657600" cy="237744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E6E8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65676" y="57607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0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app.whiphand.com/onboarding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00200" y="1234440"/>
            <a:ext cx="256032" cy="256032"/>
          </a:xfrm>
          <a:prstGeom prst="ellipse">
            <a:avLst/>
          </a:prstGeom>
          <a:solidFill>
            <a:srgbClr val="5B6CF0"/>
          </a:solidFill>
          <a:ln/>
        </p:spPr>
      </p:sp>
      <p:sp>
        <p:nvSpPr>
          <p:cNvPr id="11" name="Text 9"/>
          <p:cNvSpPr/>
          <p:nvPr/>
        </p:nvSpPr>
        <p:spPr>
          <a:xfrm>
            <a:off x="160020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13" name="Text 11"/>
          <p:cNvSpPr/>
          <p:nvPr/>
        </p:nvSpPr>
        <p:spPr>
          <a:xfrm>
            <a:off x="196596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33172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15" name="Text 13"/>
          <p:cNvSpPr/>
          <p:nvPr/>
        </p:nvSpPr>
        <p:spPr>
          <a:xfrm>
            <a:off x="233172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69748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17" name="Text 15"/>
          <p:cNvSpPr/>
          <p:nvPr/>
        </p:nvSpPr>
        <p:spPr>
          <a:xfrm>
            <a:off x="269748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06324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19" name="Text 17"/>
          <p:cNvSpPr/>
          <p:nvPr/>
        </p:nvSpPr>
        <p:spPr>
          <a:xfrm>
            <a:off x="306324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2900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21" name="Text 19"/>
          <p:cNvSpPr/>
          <p:nvPr/>
        </p:nvSpPr>
        <p:spPr>
          <a:xfrm>
            <a:off x="342900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79476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23" name="Text 21"/>
          <p:cNvSpPr/>
          <p:nvPr/>
        </p:nvSpPr>
        <p:spPr>
          <a:xfrm>
            <a:off x="379476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600200" y="1783080"/>
            <a:ext cx="8988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E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Let's set you up so this runs itself.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1600200" y="2377440"/>
            <a:ext cx="8988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38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 stop writing up these reports by hand.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600200" y="306324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 w="12700">
            <a:solidFill>
              <a:srgbClr val="E6E8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600200" y="32918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B6C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~4 min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600200" y="3840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738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 set up now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26280" y="306324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 w="12700">
            <a:solidFill>
              <a:srgbClr val="E6E8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26280" y="32918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B6C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~5 min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4526280" y="3840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738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monthly to approve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452360" y="306324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F5F6FB"/>
          </a:solidFill>
          <a:ln w="12700">
            <a:solidFill>
              <a:srgbClr val="E6E8F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52360" y="32918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B6C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 min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7452360" y="3840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738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other day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97280" y="5833872"/>
            <a:ext cx="99943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CCD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few minutes now, then about five minutes a month.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1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457200"/>
            <a:ext cx="9994392" cy="5166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8F2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97280" y="457200"/>
            <a:ext cx="9994392" cy="457200"/>
          </a:xfrm>
          <a:prstGeom prst="rect">
            <a:avLst/>
          </a:prstGeom>
          <a:solidFill>
            <a:srgbClr val="F5F6F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0" y="914400"/>
            <a:ext cx="9994392" cy="0"/>
          </a:xfrm>
          <a:prstGeom prst="line">
            <a:avLst/>
          </a:prstGeom>
          <a:noFill/>
          <a:ln w="12700">
            <a:solidFill>
              <a:srgbClr val="E6E8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25880" y="640080"/>
            <a:ext cx="100584" cy="100584"/>
          </a:xfrm>
          <a:prstGeom prst="ellipse">
            <a:avLst/>
          </a:prstGeom>
          <a:solidFill>
            <a:srgbClr val="D7DAE6"/>
          </a:solidFill>
          <a:ln/>
        </p:spPr>
      </p:sp>
      <p:sp>
        <p:nvSpPr>
          <p:cNvPr id="6" name="Shape 4"/>
          <p:cNvSpPr/>
          <p:nvPr/>
        </p:nvSpPr>
        <p:spPr>
          <a:xfrm>
            <a:off x="1527048" y="640080"/>
            <a:ext cx="100584" cy="100584"/>
          </a:xfrm>
          <a:prstGeom prst="ellipse">
            <a:avLst/>
          </a:prstGeom>
          <a:solidFill>
            <a:srgbClr val="D7DAE6"/>
          </a:solidFill>
          <a:ln/>
        </p:spPr>
      </p:sp>
      <p:sp>
        <p:nvSpPr>
          <p:cNvPr id="7" name="Shape 5"/>
          <p:cNvSpPr/>
          <p:nvPr/>
        </p:nvSpPr>
        <p:spPr>
          <a:xfrm>
            <a:off x="1728216" y="640080"/>
            <a:ext cx="100584" cy="100584"/>
          </a:xfrm>
          <a:prstGeom prst="ellipse">
            <a:avLst/>
          </a:prstGeom>
          <a:solidFill>
            <a:srgbClr val="D7DAE6"/>
          </a:solidFill>
          <a:ln/>
        </p:spPr>
      </p:sp>
      <p:sp>
        <p:nvSpPr>
          <p:cNvPr id="8" name="Shape 6"/>
          <p:cNvSpPr/>
          <p:nvPr/>
        </p:nvSpPr>
        <p:spPr>
          <a:xfrm>
            <a:off x="4265676" y="576072"/>
            <a:ext cx="3657600" cy="237744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E6E8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65676" y="57607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0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app.whiphand.com/onboarding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0020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11" name="Text 9"/>
          <p:cNvSpPr/>
          <p:nvPr/>
        </p:nvSpPr>
        <p:spPr>
          <a:xfrm>
            <a:off x="160020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234440"/>
            <a:ext cx="256032" cy="256032"/>
          </a:xfrm>
          <a:prstGeom prst="ellipse">
            <a:avLst/>
          </a:prstGeom>
          <a:solidFill>
            <a:srgbClr val="5B6CF0"/>
          </a:solidFill>
          <a:ln/>
        </p:spPr>
      </p:sp>
      <p:sp>
        <p:nvSpPr>
          <p:cNvPr id="13" name="Text 11"/>
          <p:cNvSpPr/>
          <p:nvPr/>
        </p:nvSpPr>
        <p:spPr>
          <a:xfrm>
            <a:off x="196596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33172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15" name="Text 13"/>
          <p:cNvSpPr/>
          <p:nvPr/>
        </p:nvSpPr>
        <p:spPr>
          <a:xfrm>
            <a:off x="233172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69748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17" name="Text 15"/>
          <p:cNvSpPr/>
          <p:nvPr/>
        </p:nvSpPr>
        <p:spPr>
          <a:xfrm>
            <a:off x="269748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06324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19" name="Text 17"/>
          <p:cNvSpPr/>
          <p:nvPr/>
        </p:nvSpPr>
        <p:spPr>
          <a:xfrm>
            <a:off x="306324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2900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21" name="Text 19"/>
          <p:cNvSpPr/>
          <p:nvPr/>
        </p:nvSpPr>
        <p:spPr>
          <a:xfrm>
            <a:off x="342900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79476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23" name="Text 21"/>
          <p:cNvSpPr/>
          <p:nvPr/>
        </p:nvSpPr>
        <p:spPr>
          <a:xfrm>
            <a:off x="379476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600200" y="1737360"/>
            <a:ext cx="8988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2E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Your company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600200" y="2331720"/>
            <a:ext cx="8988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AA0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COMPANY NAME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600200" y="2606040"/>
            <a:ext cx="898855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6E8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783080" y="2606040"/>
            <a:ext cx="8622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A2E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Northwind Climate Inc.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600200" y="3291840"/>
            <a:ext cx="8988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AA0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ARE YOU REGISTERED TO LOBBY?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600200" y="36118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EEF0FE"/>
          </a:solidFill>
          <a:ln w="19050">
            <a:solidFill>
              <a:srgbClr val="5B6C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783080" y="3703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43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Not yet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783080" y="4023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38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Help me register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26280" y="36118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6E8F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09160" y="3703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E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Yes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709160" y="4023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38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 have a number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452360" y="36118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6E8F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35240" y="3703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E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Lapsed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635240" y="4023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38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Needs renewal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97280" y="5833872"/>
            <a:ext cx="99943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CCD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Picking your industry pre-loads the right topics and officials on the next steps.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457200"/>
            <a:ext cx="9994392" cy="5166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8F2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97280" y="457200"/>
            <a:ext cx="9994392" cy="457200"/>
          </a:xfrm>
          <a:prstGeom prst="rect">
            <a:avLst/>
          </a:prstGeom>
          <a:solidFill>
            <a:srgbClr val="F5F6F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0" y="914400"/>
            <a:ext cx="9994392" cy="0"/>
          </a:xfrm>
          <a:prstGeom prst="line">
            <a:avLst/>
          </a:prstGeom>
          <a:noFill/>
          <a:ln w="12700">
            <a:solidFill>
              <a:srgbClr val="E6E8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25880" y="640080"/>
            <a:ext cx="100584" cy="100584"/>
          </a:xfrm>
          <a:prstGeom prst="ellipse">
            <a:avLst/>
          </a:prstGeom>
          <a:solidFill>
            <a:srgbClr val="D7DAE6"/>
          </a:solidFill>
          <a:ln/>
        </p:spPr>
      </p:sp>
      <p:sp>
        <p:nvSpPr>
          <p:cNvPr id="6" name="Shape 4"/>
          <p:cNvSpPr/>
          <p:nvPr/>
        </p:nvSpPr>
        <p:spPr>
          <a:xfrm>
            <a:off x="1527048" y="640080"/>
            <a:ext cx="100584" cy="100584"/>
          </a:xfrm>
          <a:prstGeom prst="ellipse">
            <a:avLst/>
          </a:prstGeom>
          <a:solidFill>
            <a:srgbClr val="D7DAE6"/>
          </a:solidFill>
          <a:ln/>
        </p:spPr>
      </p:sp>
      <p:sp>
        <p:nvSpPr>
          <p:cNvPr id="7" name="Shape 5"/>
          <p:cNvSpPr/>
          <p:nvPr/>
        </p:nvSpPr>
        <p:spPr>
          <a:xfrm>
            <a:off x="1728216" y="640080"/>
            <a:ext cx="100584" cy="100584"/>
          </a:xfrm>
          <a:prstGeom prst="ellipse">
            <a:avLst/>
          </a:prstGeom>
          <a:solidFill>
            <a:srgbClr val="D7DAE6"/>
          </a:solidFill>
          <a:ln/>
        </p:spPr>
      </p:sp>
      <p:sp>
        <p:nvSpPr>
          <p:cNvPr id="8" name="Shape 6"/>
          <p:cNvSpPr/>
          <p:nvPr/>
        </p:nvSpPr>
        <p:spPr>
          <a:xfrm>
            <a:off x="4265676" y="576072"/>
            <a:ext cx="3657600" cy="237744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E6E8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65676" y="57607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0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app.whiphand.com/onboarding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0020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11" name="Text 9"/>
          <p:cNvSpPr/>
          <p:nvPr/>
        </p:nvSpPr>
        <p:spPr>
          <a:xfrm>
            <a:off x="160020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13" name="Text 11"/>
          <p:cNvSpPr/>
          <p:nvPr/>
        </p:nvSpPr>
        <p:spPr>
          <a:xfrm>
            <a:off x="196596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331720" y="1234440"/>
            <a:ext cx="256032" cy="256032"/>
          </a:xfrm>
          <a:prstGeom prst="ellipse">
            <a:avLst/>
          </a:prstGeom>
          <a:solidFill>
            <a:srgbClr val="5B6CF0"/>
          </a:solidFill>
          <a:ln/>
        </p:spPr>
      </p:sp>
      <p:sp>
        <p:nvSpPr>
          <p:cNvPr id="15" name="Text 13"/>
          <p:cNvSpPr/>
          <p:nvPr/>
        </p:nvSpPr>
        <p:spPr>
          <a:xfrm>
            <a:off x="233172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69748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17" name="Text 15"/>
          <p:cNvSpPr/>
          <p:nvPr/>
        </p:nvSpPr>
        <p:spPr>
          <a:xfrm>
            <a:off x="269748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06324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19" name="Text 17"/>
          <p:cNvSpPr/>
          <p:nvPr/>
        </p:nvSpPr>
        <p:spPr>
          <a:xfrm>
            <a:off x="306324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2900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21" name="Text 19"/>
          <p:cNvSpPr/>
          <p:nvPr/>
        </p:nvSpPr>
        <p:spPr>
          <a:xfrm>
            <a:off x="342900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79476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23" name="Text 21"/>
          <p:cNvSpPr/>
          <p:nvPr/>
        </p:nvSpPr>
        <p:spPr>
          <a:xfrm>
            <a:off x="379476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600200" y="1737360"/>
            <a:ext cx="8988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2E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 and your team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1600200" y="2377440"/>
            <a:ext cx="8988552" cy="1005840"/>
          </a:xfrm>
          <a:prstGeom prst="roundRect">
            <a:avLst>
              <a:gd name="adj" fmla="val 9091"/>
            </a:avLst>
          </a:prstGeom>
          <a:solidFill>
            <a:srgbClr val="F5F6FB"/>
          </a:solidFill>
          <a:ln w="12700">
            <a:solidFill>
              <a:srgbClr val="E6E8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28800" y="2514600"/>
            <a:ext cx="7159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3B4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WHO SIGNS OFF: the senior officer who approves each month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82880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E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Alex Reed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828800" y="3154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38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CEO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25712" y="2606040"/>
            <a:ext cx="1188720" cy="365760"/>
          </a:xfrm>
          <a:prstGeom prst="roundRect">
            <a:avLst>
              <a:gd name="adj" fmla="val 45000"/>
            </a:avLst>
          </a:prstGeom>
          <a:solidFill>
            <a:srgbClr val="EE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9125712" y="26060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B43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Required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600200" y="3657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E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Others on the registration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600200" y="4023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38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Jordan Blake · VP Policy · Lobbyist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97280" y="5833872"/>
            <a:ext cx="99943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CCD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It sets the one person who signs off, so nothing is filed without approval.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1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457200"/>
            <a:ext cx="9994392" cy="5166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8F2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97280" y="457200"/>
            <a:ext cx="9994392" cy="457200"/>
          </a:xfrm>
          <a:prstGeom prst="rect">
            <a:avLst/>
          </a:prstGeom>
          <a:solidFill>
            <a:srgbClr val="F5F6F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0" y="914400"/>
            <a:ext cx="9994392" cy="0"/>
          </a:xfrm>
          <a:prstGeom prst="line">
            <a:avLst/>
          </a:prstGeom>
          <a:noFill/>
          <a:ln w="12700">
            <a:solidFill>
              <a:srgbClr val="E6E8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25880" y="640080"/>
            <a:ext cx="100584" cy="100584"/>
          </a:xfrm>
          <a:prstGeom prst="ellipse">
            <a:avLst/>
          </a:prstGeom>
          <a:solidFill>
            <a:srgbClr val="D7DAE6"/>
          </a:solidFill>
          <a:ln/>
        </p:spPr>
      </p:sp>
      <p:sp>
        <p:nvSpPr>
          <p:cNvPr id="6" name="Shape 4"/>
          <p:cNvSpPr/>
          <p:nvPr/>
        </p:nvSpPr>
        <p:spPr>
          <a:xfrm>
            <a:off x="1527048" y="640080"/>
            <a:ext cx="100584" cy="100584"/>
          </a:xfrm>
          <a:prstGeom prst="ellipse">
            <a:avLst/>
          </a:prstGeom>
          <a:solidFill>
            <a:srgbClr val="D7DAE6"/>
          </a:solidFill>
          <a:ln/>
        </p:spPr>
      </p:sp>
      <p:sp>
        <p:nvSpPr>
          <p:cNvPr id="7" name="Shape 5"/>
          <p:cNvSpPr/>
          <p:nvPr/>
        </p:nvSpPr>
        <p:spPr>
          <a:xfrm>
            <a:off x="1728216" y="640080"/>
            <a:ext cx="100584" cy="100584"/>
          </a:xfrm>
          <a:prstGeom prst="ellipse">
            <a:avLst/>
          </a:prstGeom>
          <a:solidFill>
            <a:srgbClr val="D7DAE6"/>
          </a:solidFill>
          <a:ln/>
        </p:spPr>
      </p:sp>
      <p:sp>
        <p:nvSpPr>
          <p:cNvPr id="8" name="Shape 6"/>
          <p:cNvSpPr/>
          <p:nvPr/>
        </p:nvSpPr>
        <p:spPr>
          <a:xfrm>
            <a:off x="4265676" y="576072"/>
            <a:ext cx="3657600" cy="237744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E6E8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65676" y="57607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0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app.whiphand.com/onboarding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0020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11" name="Text 9"/>
          <p:cNvSpPr/>
          <p:nvPr/>
        </p:nvSpPr>
        <p:spPr>
          <a:xfrm>
            <a:off x="160020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13" name="Text 11"/>
          <p:cNvSpPr/>
          <p:nvPr/>
        </p:nvSpPr>
        <p:spPr>
          <a:xfrm>
            <a:off x="196596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33172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15" name="Text 13"/>
          <p:cNvSpPr/>
          <p:nvPr/>
        </p:nvSpPr>
        <p:spPr>
          <a:xfrm>
            <a:off x="233172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697480" y="1234440"/>
            <a:ext cx="256032" cy="256032"/>
          </a:xfrm>
          <a:prstGeom prst="ellipse">
            <a:avLst/>
          </a:prstGeom>
          <a:solidFill>
            <a:srgbClr val="5B6CF0"/>
          </a:solidFill>
          <a:ln/>
        </p:spPr>
      </p:sp>
      <p:sp>
        <p:nvSpPr>
          <p:cNvPr id="17" name="Text 15"/>
          <p:cNvSpPr/>
          <p:nvPr/>
        </p:nvSpPr>
        <p:spPr>
          <a:xfrm>
            <a:off x="269748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06324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19" name="Text 17"/>
          <p:cNvSpPr/>
          <p:nvPr/>
        </p:nvSpPr>
        <p:spPr>
          <a:xfrm>
            <a:off x="306324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2900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21" name="Text 19"/>
          <p:cNvSpPr/>
          <p:nvPr/>
        </p:nvSpPr>
        <p:spPr>
          <a:xfrm>
            <a:off x="342900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79476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23" name="Text 21"/>
          <p:cNvSpPr/>
          <p:nvPr/>
        </p:nvSpPr>
        <p:spPr>
          <a:xfrm>
            <a:off x="379476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600200" y="1737360"/>
            <a:ext cx="8988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2E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Topics &amp; officials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600200" y="2240280"/>
            <a:ext cx="8988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38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Already filled in from your industry. Adjust if you like.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600200" y="2788920"/>
            <a:ext cx="1181405" cy="365760"/>
          </a:xfrm>
          <a:prstGeom prst="roundRect">
            <a:avLst>
              <a:gd name="adj" fmla="val 50000"/>
            </a:avLst>
          </a:prstGeom>
          <a:solidFill>
            <a:srgbClr val="5B6CF0"/>
          </a:solidFill>
          <a:ln w="12700">
            <a:solidFill>
              <a:srgbClr val="5B6C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600200" y="2788920"/>
            <a:ext cx="11814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✓ Environment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891333" y="2788920"/>
            <a:ext cx="1433779" cy="365760"/>
          </a:xfrm>
          <a:prstGeom prst="roundRect">
            <a:avLst>
              <a:gd name="adj" fmla="val 50000"/>
            </a:avLst>
          </a:prstGeom>
          <a:solidFill>
            <a:srgbClr val="5B6CF0"/>
          </a:solidFill>
          <a:ln w="12700">
            <a:solidFill>
              <a:srgbClr val="5B6C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91333" y="2788920"/>
            <a:ext cx="14337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✓ Climate change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434840" y="2788920"/>
            <a:ext cx="760781" cy="365760"/>
          </a:xfrm>
          <a:prstGeom prst="roundRect">
            <a:avLst>
              <a:gd name="adj" fmla="val 50000"/>
            </a:avLst>
          </a:prstGeom>
          <a:solidFill>
            <a:srgbClr val="5B6CF0"/>
          </a:solidFill>
          <a:ln w="12700">
            <a:solidFill>
              <a:srgbClr val="5B6C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34840" y="2788920"/>
            <a:ext cx="76078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✓ Energy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305349" y="2788920"/>
            <a:ext cx="929030" cy="365760"/>
          </a:xfrm>
          <a:prstGeom prst="roundRect">
            <a:avLst>
              <a:gd name="adj" fmla="val 50000"/>
            </a:avLst>
          </a:prstGeom>
          <a:solidFill>
            <a:srgbClr val="5B6CF0"/>
          </a:solidFill>
          <a:ln w="12700">
            <a:solidFill>
              <a:srgbClr val="5B6C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05349" y="2788920"/>
            <a:ext cx="9290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✓ Industry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44107" y="2788920"/>
            <a:ext cx="1433779" cy="365760"/>
          </a:xfrm>
          <a:prstGeom prst="roundRect">
            <a:avLst>
              <a:gd name="adj" fmla="val 50000"/>
            </a:avLst>
          </a:prstGeom>
          <a:solidFill>
            <a:srgbClr val="5B6CF0"/>
          </a:solidFill>
          <a:ln w="12700">
            <a:solidFill>
              <a:srgbClr val="5B6C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44107" y="2788920"/>
            <a:ext cx="14337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✓ Science &amp; tech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887614" y="2788920"/>
            <a:ext cx="67665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6E8F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887614" y="2788920"/>
            <a:ext cx="6766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2E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Taxes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673998" y="2788920"/>
            <a:ext cx="760781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6E8F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673998" y="2788920"/>
            <a:ext cx="76078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A2E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Health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600200" y="4023360"/>
            <a:ext cx="8988552" cy="640080"/>
          </a:xfrm>
          <a:prstGeom prst="roundRect">
            <a:avLst>
              <a:gd name="adj" fmla="val 11429"/>
            </a:avLst>
          </a:prstGeom>
          <a:solidFill>
            <a:srgbClr val="EEF0FE"/>
          </a:solidFill>
          <a:ln w="12700">
            <a:solidFill>
              <a:srgbClr val="D7DCF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828800" y="4023360"/>
            <a:ext cx="8531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43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 topics · 5 government bodies set as your defaults. We add anything else we spot in a meeting.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1097280" y="5833872"/>
            <a:ext cx="99943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CCD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highlighted choices were made for them, so a non-expert can still get it right.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1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457200"/>
            <a:ext cx="9994392" cy="5166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8F2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97280" y="457200"/>
            <a:ext cx="9994392" cy="457200"/>
          </a:xfrm>
          <a:prstGeom prst="rect">
            <a:avLst/>
          </a:prstGeom>
          <a:solidFill>
            <a:srgbClr val="F5F6F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0" y="914400"/>
            <a:ext cx="9994392" cy="0"/>
          </a:xfrm>
          <a:prstGeom prst="line">
            <a:avLst/>
          </a:prstGeom>
          <a:noFill/>
          <a:ln w="12700">
            <a:solidFill>
              <a:srgbClr val="E6E8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25880" y="640080"/>
            <a:ext cx="100584" cy="100584"/>
          </a:xfrm>
          <a:prstGeom prst="ellipse">
            <a:avLst/>
          </a:prstGeom>
          <a:solidFill>
            <a:srgbClr val="D7DAE6"/>
          </a:solidFill>
          <a:ln/>
        </p:spPr>
      </p:sp>
      <p:sp>
        <p:nvSpPr>
          <p:cNvPr id="6" name="Shape 4"/>
          <p:cNvSpPr/>
          <p:nvPr/>
        </p:nvSpPr>
        <p:spPr>
          <a:xfrm>
            <a:off x="1527048" y="640080"/>
            <a:ext cx="100584" cy="100584"/>
          </a:xfrm>
          <a:prstGeom prst="ellipse">
            <a:avLst/>
          </a:prstGeom>
          <a:solidFill>
            <a:srgbClr val="D7DAE6"/>
          </a:solidFill>
          <a:ln/>
        </p:spPr>
      </p:sp>
      <p:sp>
        <p:nvSpPr>
          <p:cNvPr id="7" name="Shape 5"/>
          <p:cNvSpPr/>
          <p:nvPr/>
        </p:nvSpPr>
        <p:spPr>
          <a:xfrm>
            <a:off x="1728216" y="640080"/>
            <a:ext cx="100584" cy="100584"/>
          </a:xfrm>
          <a:prstGeom prst="ellipse">
            <a:avLst/>
          </a:prstGeom>
          <a:solidFill>
            <a:srgbClr val="D7DAE6"/>
          </a:solidFill>
          <a:ln/>
        </p:spPr>
      </p:sp>
      <p:sp>
        <p:nvSpPr>
          <p:cNvPr id="8" name="Shape 6"/>
          <p:cNvSpPr/>
          <p:nvPr/>
        </p:nvSpPr>
        <p:spPr>
          <a:xfrm>
            <a:off x="4265676" y="576072"/>
            <a:ext cx="3657600" cy="237744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E6E8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65676" y="57607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0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app.whiphand.com/onboarding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0020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11" name="Text 9"/>
          <p:cNvSpPr/>
          <p:nvPr/>
        </p:nvSpPr>
        <p:spPr>
          <a:xfrm>
            <a:off x="160020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13" name="Text 11"/>
          <p:cNvSpPr/>
          <p:nvPr/>
        </p:nvSpPr>
        <p:spPr>
          <a:xfrm>
            <a:off x="196596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33172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15" name="Text 13"/>
          <p:cNvSpPr/>
          <p:nvPr/>
        </p:nvSpPr>
        <p:spPr>
          <a:xfrm>
            <a:off x="233172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69748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17" name="Text 15"/>
          <p:cNvSpPr/>
          <p:nvPr/>
        </p:nvSpPr>
        <p:spPr>
          <a:xfrm>
            <a:off x="269748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06324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19" name="Text 17"/>
          <p:cNvSpPr/>
          <p:nvPr/>
        </p:nvSpPr>
        <p:spPr>
          <a:xfrm>
            <a:off x="306324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29000" y="1234440"/>
            <a:ext cx="256032" cy="256032"/>
          </a:xfrm>
          <a:prstGeom prst="ellipse">
            <a:avLst/>
          </a:prstGeom>
          <a:solidFill>
            <a:srgbClr val="E6E8F2"/>
          </a:solidFill>
          <a:ln/>
        </p:spPr>
      </p:sp>
      <p:sp>
        <p:nvSpPr>
          <p:cNvPr id="21" name="Text 19"/>
          <p:cNvSpPr/>
          <p:nvPr/>
        </p:nvSpPr>
        <p:spPr>
          <a:xfrm>
            <a:off x="342900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794760" y="1234440"/>
            <a:ext cx="256032" cy="256032"/>
          </a:xfrm>
          <a:prstGeom prst="ellipse">
            <a:avLst/>
          </a:prstGeom>
          <a:solidFill>
            <a:srgbClr val="5B6CF0"/>
          </a:solidFill>
          <a:ln/>
        </p:spPr>
      </p:sp>
      <p:sp>
        <p:nvSpPr>
          <p:cNvPr id="23" name="Text 21"/>
          <p:cNvSpPr/>
          <p:nvPr/>
        </p:nvSpPr>
        <p:spPr>
          <a:xfrm>
            <a:off x="3794760" y="1234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600200" y="1737360"/>
            <a:ext cx="8988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2E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You're all set.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1600200" y="2331720"/>
            <a:ext cx="8988552" cy="1188720"/>
          </a:xfrm>
          <a:prstGeom prst="roundRect">
            <a:avLst>
              <a:gd name="adj" fmla="val 9231"/>
            </a:avLst>
          </a:prstGeom>
          <a:solidFill>
            <a:srgbClr val="5B6CF0"/>
          </a:solidFill>
          <a:ln/>
        </p:spPr>
      </p:sp>
      <p:sp>
        <p:nvSpPr>
          <p:cNvPr id="26" name="Text 24"/>
          <p:cNvSpPr/>
          <p:nvPr/>
        </p:nvSpPr>
        <p:spPr>
          <a:xfrm>
            <a:off x="1874520" y="2514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D7DCF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FILLED IN FOR YOU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874520" y="27432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88%</a:t>
            </a:r>
            <a:endParaRPr lang="en-US" sz="3800" dirty="0"/>
          </a:p>
        </p:txBody>
      </p:sp>
      <p:sp>
        <p:nvSpPr>
          <p:cNvPr id="28" name="Text 26"/>
          <p:cNvSpPr/>
          <p:nvPr/>
        </p:nvSpPr>
        <p:spPr>
          <a:xfrm>
            <a:off x="397764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0F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of every report field, pre-filled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600200" y="3749040"/>
            <a:ext cx="8988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738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When you finish, your profile is saved, your team's calendars are invited, and we start watching right away. Around the middle of next month you get one task: review and approve.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97280" y="5833872"/>
            <a:ext cx="99943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CCD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Closes with the payoff number, and says exactly what happens next.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457200"/>
            <a:ext cx="9994392" cy="5166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8F2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97280" y="457200"/>
            <a:ext cx="9994392" cy="457200"/>
          </a:xfrm>
          <a:prstGeom prst="rect">
            <a:avLst/>
          </a:prstGeom>
          <a:solidFill>
            <a:srgbClr val="F5F6F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0" y="914400"/>
            <a:ext cx="9994392" cy="0"/>
          </a:xfrm>
          <a:prstGeom prst="line">
            <a:avLst/>
          </a:prstGeom>
          <a:noFill/>
          <a:ln w="12700">
            <a:solidFill>
              <a:srgbClr val="E6E8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25880" y="640080"/>
            <a:ext cx="100584" cy="100584"/>
          </a:xfrm>
          <a:prstGeom prst="ellipse">
            <a:avLst/>
          </a:prstGeom>
          <a:solidFill>
            <a:srgbClr val="D7DAE6"/>
          </a:solidFill>
          <a:ln/>
        </p:spPr>
      </p:sp>
      <p:sp>
        <p:nvSpPr>
          <p:cNvPr id="6" name="Shape 4"/>
          <p:cNvSpPr/>
          <p:nvPr/>
        </p:nvSpPr>
        <p:spPr>
          <a:xfrm>
            <a:off x="1527048" y="640080"/>
            <a:ext cx="100584" cy="100584"/>
          </a:xfrm>
          <a:prstGeom prst="ellipse">
            <a:avLst/>
          </a:prstGeom>
          <a:solidFill>
            <a:srgbClr val="D7DAE6"/>
          </a:solidFill>
          <a:ln/>
        </p:spPr>
      </p:sp>
      <p:sp>
        <p:nvSpPr>
          <p:cNvPr id="7" name="Shape 5"/>
          <p:cNvSpPr/>
          <p:nvPr/>
        </p:nvSpPr>
        <p:spPr>
          <a:xfrm>
            <a:off x="1728216" y="640080"/>
            <a:ext cx="100584" cy="100584"/>
          </a:xfrm>
          <a:prstGeom prst="ellipse">
            <a:avLst/>
          </a:prstGeom>
          <a:solidFill>
            <a:srgbClr val="D7DAE6"/>
          </a:solidFill>
          <a:ln/>
        </p:spPr>
      </p:sp>
      <p:sp>
        <p:nvSpPr>
          <p:cNvPr id="8" name="Shape 6"/>
          <p:cNvSpPr/>
          <p:nvPr/>
        </p:nvSpPr>
        <p:spPr>
          <a:xfrm>
            <a:off x="4265676" y="576072"/>
            <a:ext cx="3657600" cy="237744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E6E8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65676" y="57607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0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app.whiphand.com/settings/calendars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234440"/>
            <a:ext cx="8988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2E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Calendars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600200" y="1737360"/>
            <a:ext cx="8988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738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Connect each person's calendar.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600200" y="2286000"/>
            <a:ext cx="8988552" cy="777240"/>
          </a:xfrm>
          <a:prstGeom prst="roundRect">
            <a:avLst>
              <a:gd name="adj" fmla="val 11765"/>
            </a:avLst>
          </a:prstGeom>
          <a:solidFill>
            <a:srgbClr val="F5F6FB"/>
          </a:solidFill>
          <a:ln w="12700">
            <a:solidFill>
              <a:srgbClr val="E6E8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74520" y="240487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E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alex@northwindclimate.com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874520" y="27157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AE8E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Connected · synced 2 minutes ago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217152" y="25146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B43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Active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600200" y="3611880"/>
            <a:ext cx="8988552" cy="640080"/>
          </a:xfrm>
          <a:prstGeom prst="roundRect">
            <a:avLst>
              <a:gd name="adj" fmla="val 11429"/>
            </a:avLst>
          </a:prstGeom>
          <a:solidFill>
            <a:srgbClr val="EEF0FE"/>
          </a:solidFill>
          <a:ln w="12700">
            <a:solidFill>
              <a:srgbClr val="D7DCF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28800" y="3611880"/>
            <a:ext cx="8531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43B8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Scanned 1,469 events · matched attendees against government officials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097280" y="5833872"/>
            <a:ext cx="99943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CCD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Works with Google and Microsoft 365. We scan and sort meetings in the background, with no work for the user.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12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457200"/>
            <a:ext cx="9994392" cy="5166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8F2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97280" y="457200"/>
            <a:ext cx="9994392" cy="457200"/>
          </a:xfrm>
          <a:prstGeom prst="rect">
            <a:avLst/>
          </a:prstGeom>
          <a:solidFill>
            <a:srgbClr val="F5F6F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0" y="914400"/>
            <a:ext cx="9994392" cy="0"/>
          </a:xfrm>
          <a:prstGeom prst="line">
            <a:avLst/>
          </a:prstGeom>
          <a:noFill/>
          <a:ln w="12700">
            <a:solidFill>
              <a:srgbClr val="E6E8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25880" y="640080"/>
            <a:ext cx="100584" cy="100584"/>
          </a:xfrm>
          <a:prstGeom prst="ellipse">
            <a:avLst/>
          </a:prstGeom>
          <a:solidFill>
            <a:srgbClr val="D7DAE6"/>
          </a:solidFill>
          <a:ln/>
        </p:spPr>
      </p:sp>
      <p:sp>
        <p:nvSpPr>
          <p:cNvPr id="6" name="Shape 4"/>
          <p:cNvSpPr/>
          <p:nvPr/>
        </p:nvSpPr>
        <p:spPr>
          <a:xfrm>
            <a:off x="1527048" y="640080"/>
            <a:ext cx="100584" cy="100584"/>
          </a:xfrm>
          <a:prstGeom prst="ellipse">
            <a:avLst/>
          </a:prstGeom>
          <a:solidFill>
            <a:srgbClr val="D7DAE6"/>
          </a:solidFill>
          <a:ln/>
        </p:spPr>
      </p:sp>
      <p:sp>
        <p:nvSpPr>
          <p:cNvPr id="7" name="Shape 5"/>
          <p:cNvSpPr/>
          <p:nvPr/>
        </p:nvSpPr>
        <p:spPr>
          <a:xfrm>
            <a:off x="1728216" y="640080"/>
            <a:ext cx="100584" cy="100584"/>
          </a:xfrm>
          <a:prstGeom prst="ellipse">
            <a:avLst/>
          </a:prstGeom>
          <a:solidFill>
            <a:srgbClr val="D7DAE6"/>
          </a:solidFill>
          <a:ln/>
        </p:spPr>
      </p:sp>
      <p:sp>
        <p:nvSpPr>
          <p:cNvPr id="8" name="Shape 6"/>
          <p:cNvSpPr/>
          <p:nvPr/>
        </p:nvSpPr>
        <p:spPr>
          <a:xfrm>
            <a:off x="4265676" y="576072"/>
            <a:ext cx="3657600" cy="237744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2700">
            <a:solidFill>
              <a:srgbClr val="E6E8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65676" y="57607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A0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app.whiphand.com/reports</a:t>
            </a:r>
            <a:endParaRPr lang="en-US" sz="9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1216152"/>
            <a:ext cx="237744" cy="23774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911096" y="11795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2E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Auto Lobby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337560" y="1216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9AA0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POWERED BY WHIPHAND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6002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2E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 meetings ready to report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759952" y="16916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5B6C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 min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845552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100" kern="0" dirty="0">
                <a:solidFill>
                  <a:srgbClr val="9AA0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YOUR TIME SPENT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1600200" y="2606040"/>
            <a:ext cx="8988552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8F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874520" y="2743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E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June 2026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759952" y="2715768"/>
            <a:ext cx="1554480" cy="411480"/>
          </a:xfrm>
          <a:prstGeom prst="roundRect">
            <a:avLst>
              <a:gd name="adj" fmla="val 17778"/>
            </a:avLst>
          </a:prstGeom>
          <a:solidFill>
            <a:srgbClr val="5B6CF0"/>
          </a:solidFill>
          <a:ln/>
        </p:spPr>
      </p:sp>
      <p:sp>
        <p:nvSpPr>
          <p:cNvPr id="19" name="Text 16"/>
          <p:cNvSpPr/>
          <p:nvPr/>
        </p:nvSpPr>
        <p:spPr>
          <a:xfrm>
            <a:off x="8759952" y="2715768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Approve all (3)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874520" y="3291840"/>
            <a:ext cx="7159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E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Natural Resources Canada · clean-energy tax credits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9582912" y="32918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Jun 4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1874520" y="3675888"/>
            <a:ext cx="7159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E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Environment and Climate Change Canada · carbon removal rules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9582912" y="367588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Jun 11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874520" y="4059936"/>
            <a:ext cx="7159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E3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Finance Canada · carbon capture funding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9582912" y="405993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3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Jun 18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1097280" y="5833872"/>
            <a:ext cx="99943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9CCD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Everything in one place: meetings found, written up, the reasoning shown, and one button to approve.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 Lobby Walkthrough</dc:title>
  <dc:subject>PptxGenJS Presentation</dc:subject>
  <dc:creator>Whiphand</dc:creator>
  <cp:lastModifiedBy>Whiphand</cp:lastModifiedBy>
  <cp:revision>1</cp:revision>
  <dcterms:created xsi:type="dcterms:W3CDTF">2026-06-18T17:26:03Z</dcterms:created>
  <dcterms:modified xsi:type="dcterms:W3CDTF">2026-06-18T17:26:03Z</dcterms:modified>
</cp:coreProperties>
</file>